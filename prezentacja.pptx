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System cheiloskopijnej
identyfikacji osób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9441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Porównanie metod biometrycznej identyfikacji na podstawie fotografii 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023360"/>
            <a:ext cx="4876495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Praca magisterska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[Imie i Nazwisko]  |  [Nazwa uczelni]  |  [Rok]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Spis tresci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1.  Wprowadzenie — czym jest cheiloskopia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2.  Cel pracy i zadanie identyfikacyjne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3.  Zbior danych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4.  Preprocessing obrazow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5.  Metoda 1 — tradycyjne porownanie obrazow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6.  Metoda 2 — uczenie maszynowe na cechach biometrycznych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7.  Ekstrakcja cech: LBP, HOG, Gabor, minucje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8.  Klasyfikatory: SVM, Random Forest, k-NN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9.  Walidacja krzyzowa (5-fold CV)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10. Wyniki badan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11. Porownanie metod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12. Aplikacja GUI (Streamlit)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2E"/>
                </a:solidFill>
                <a:latin typeface="Calibri"/>
              </a:rPr>
              <a:t>13. Wnioski i podsumowanie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Czym jest cheiloskopia?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Cheiloskopia (gr. cheilos = usta, skopein = badac) to dzial kryminalistyki zajmujacy sie identyfikacja osob na podstawie wzorow bruzd ust.
Analogicznie do daktyloskopii (odciskow palcow), wzory bruzd ust sa: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Unikalne dla kazdego czlowieka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Niezmienne przez cale zycie (poza patologiami)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Mozliwe do odtworzenia ze sladu lub zdjecia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Czesciowo dziedziczne (bliznięta — podobne, ale nie identyczne)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2E"/>
                </a:solidFill>
                <a:latin typeface="Calibri"/>
              </a:rPr>
              <a:t>Klasyfikacja Suzuki i Tsuchihashi (1970) — 5 typow bruzd: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440680"/>
          <a:ext cx="4846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Opis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Bruzdy pionowe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|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Bruzdy poziome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Bruzdy rozgalezione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Bruzdy krzyzujace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Bruzdy nieregularne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46720" y="1371600"/>
            <a:ext cx="3657600" cy="475488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48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[Ilustracja typow bruzd ust
lub zdjecie odcisku ust]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Cel pracy i zadanie identyfikacyjne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A1A2E"/>
                </a:solidFill>
                <a:latin typeface="Calibri"/>
              </a:rPr>
              <a:t>Cel — porownanie dwoch metod automatycznej identyfikacji osoby na podstawie zdjecia ust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A1A2E"/>
                </a:solidFill>
                <a:latin typeface="Calibri"/>
              </a:rPr>
              <a:t>Zadanie — identyfikacja 1-do-N: dane jedno nieznane zdjecie ust, szukamy ktora z N=22 znanych osob jest autorem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A1A2E"/>
                </a:solidFill>
                <a:latin typeface="Calibri"/>
              </a:rPr>
              <a:t>Metoda 1 — tradycyjne porownanie obrazow (SSIM, ORB, Histogram)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A1A2E"/>
                </a:solidFill>
                <a:latin typeface="Calibri"/>
              </a:rPr>
              <a:t>Metoda 2 — klasyczne ML na cechach biometrycznych (LBP + HOG + Gabor + minucje)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A1A2E"/>
                </a:solidFill>
                <a:latin typeface="Calibri"/>
              </a:rPr>
              <a:t>Baseline losowy — accuracy = 1/22 = 4.5% (dolna granica odniesienia)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9441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804040"/>
                </a:solidFill>
                <a:latin typeface="Calibri"/>
              </a:rPr>
              <a:t>Wazna decyzja naukowa: metadane z Excela (plec, wiek, odcien skory) NIE wchodza do wektora cech — bylyby to data leakage psujacy wartosc badania.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657600" cy="41148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8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[Schemat: zdjecie ust
-&gt; identyfikacja
-&gt; osoba z 22]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Zbior danych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Parametr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Wartosc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Liczba zdjec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382 (PNG, bezstratne)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Liczba osob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Zdjec / osobe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~17 (rozklad nierowny)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Rozdzielczosc oryg.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1478 x 560 px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Oswietlenie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Lampa ON + Lampa OFF (wymieszane)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Kadrow.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Wycięte do ust (_CUT)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Metadane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Plec, wiek, skora, cechy szczeg. (NIE cechy ML!)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754880"/>
            <a:ext cx="5029200" cy="18288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8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[Przykladowe zdjecia ust z bazy danych — galeria]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754880"/>
            <a:ext cx="5486400" cy="18288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8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[Wykres slupkowy: liczba zdjec per osoba]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Preprocessing obrazow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A1A2E"/>
                </a:solidFill>
                <a:latin typeface="Calibri"/>
              </a:rPr>
              <a:t>Pipeline przetwarzania wstepnego — 4 kroki: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Konwersja do skali szarosci — eliminacja informacji o kolorze (bruzdy sa struktura geometryczna)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CLAHE (clip_limit=2.0, tile=8x8) — lokalne wyrownanie kontrastu, bruzdy staja sie wyrazniejsze niezaleznie od oswietlenia (ON vs OFF)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Bilateral filter (d=9, sigma=75) — redukcja szumu z zachowaniem ostrych krawedzi bruzd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4. Resize do 512 x 256 px — ujednolicony rozmiar dla identycznych wektorow cech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[Wizualizacja krokow preprocessingu:
Oryginal -&gt; Grayscale -&gt; CLAHE
-&gt; Bilateral -&gt; Resize]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Metoda 1: Tradycyjne porownanie obrazow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Zasada — </a:t>
            </a:r>
            <a:r>
              <a:rPr sz="1600" b="0" i="0">
                <a:solidFill>
                  <a:srgbClr val="1A1A2E"/>
                </a:solidFill>
                <a:latin typeface="Calibri"/>
              </a:rPr>
              <a:t>brak ekstrakcji cech. Bezposrednie porownanie pikseli/struktur.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Dla kazdego zdjecia testowego obliczamy miare podobienstwa do WSZYSTKICH zdjec treningowych.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Klasyfikacja 1-NN — </a:t>
            </a:r>
            <a:r>
              <a:rPr sz="1600" b="0" i="0">
                <a:solidFill>
                  <a:srgbClr val="1A1A2E"/>
                </a:solidFill>
                <a:latin typeface="Calibri"/>
              </a:rPr>
              <a:t>osoba z najwyzszym score = predykcja.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Trzy niezalezne miary: SSIM, ORB, Histogram.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Miara Combined — </a:t>
            </a:r>
            <a:r>
              <a:rPr sz="1600" b="0" i="0">
                <a:solidFill>
                  <a:srgbClr val="1A1A2E"/>
                </a:solidFill>
                <a:latin typeface="Calibri"/>
              </a:rPr>
              <a:t>wazona kombinacja trzech powyzszych.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Zalety — </a:t>
            </a:r>
            <a:r>
              <a:rPr sz="1600" b="0" i="0">
                <a:solidFill>
                  <a:srgbClr val="1A1A2E"/>
                </a:solidFill>
                <a:latin typeface="Calibri"/>
              </a:rPr>
              <a:t>prosta implementacja, brak fazy treningowej, interpretowalne wyniki.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Wady — </a:t>
            </a:r>
            <a:r>
              <a:rPr sz="1600" b="0" i="0">
                <a:solidFill>
                  <a:srgbClr val="1A1A2E"/>
                </a:solidFill>
                <a:latin typeface="Calibri"/>
              </a:rPr>
              <a:t>wolne (liniowe po wszystkich treningowych), wrazliwe na zmiany oswietlenia.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Metoda 1: Miary podobienstwa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109728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Miara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Algorytm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Zakres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Implementacja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Structural Similarity Index
(luminancja + kontrast + struktura)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[-1, 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skimage.metrics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ORB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Keypoint matching
(FAST + BRIEF + BFMatcher)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[0, 1]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cv2.ORB_create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Histogram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Korelacja histogramow jasnosci
(Pearson na 256 binach)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[-1, 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cv2.compareHist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Wazona srednia:
0.5*SSIM + 0.25*ORB + 0.25*Hist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[0, 1]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Normalizacja [-1,1]-&gt;[0,1]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1A1A2E"/>
                </a:solidFill>
                <a:latin typeface="Calibri"/>
              </a:rPr>
              <a:t>Obrazy skalowane do 256x128 px (grayscale) przed porownaniem SSIM — wystarczajacy do zachowania struktury bruzd, szybszy niz 1478x560.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Metoda 2: Uczenie maszynowe — przeglad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Zdjecie PNG (1478x560)
       |
  PREPROCESSING
  Grayscale -&gt; CLAHE -&gt; Bilateral -&gt; Resize 512x256
       |
  EKSTRAKCJA CECH
  LBP(10) + HOG(16740) + Gabor(64) + Minutiae(7)
  = surowy wektor 16 821 cech
       |
  PCA (HOG: 16740 -&gt; 100) + StandardScaler
  = finalny wektor 181 cech
       |
  KLASYFIKATOR: SVM / RF / k-NN
       |
  Wynik: top-5 kandydatow +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[Schemat blokowy pipeline
Metody 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Ekstrakcja cech: LBP (Local Binary Patterns)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Deskryptor tekstury — porownuje jasnosc piksela z sasiadami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Dla kazdego piksela: 8 sasiadow w promieniu 1 px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Jesli sasiad &gt;= srodkowy -&gt; bit=1, inaczej -&gt; bit=0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Wariant 'uniform' — wzorce z &lt;=2 przejsciami 0&lt;-&gt;1 (odporne na rotacje)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Histogram 10-binowy znormalizowany (suma=1)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Bin 0 ~ udzial pikseli jednorodnie ciemnych (tlo)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Bin 9 ~ udzial pikseli jednorodnie jasnych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572000"/>
          <a:ext cx="4572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Parametr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Wartosc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 (sasiedzi)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 (promien)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 px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Metoda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uniform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Biny histogramu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Wektor cech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 wartosci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[Wizualizacja LBP:
heatmapa wzorcow
+ histogram 10-binowy]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Ekstrakcja cech: HOG (Histogram of Oriented Gradients)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Opisuje lokalna strukture krawedzi przez histogramy kierunkow gradientu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Swietny dla bruzd ust — wyrazna struktura liniowa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Komorki: 16x16 px -&gt; siatka 32x16 = 512 komorek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Bloki: 2x2 komorki z zakladka -&gt; 31x15 = 465 blokow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Normalizacja L2-Hys per blok (clip do 0.2)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Surowy wektor: 465 x 36 = 16 740 cech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PCA redukuje do 100 skladowych (&gt;95% wariancji)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75488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Parametr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Wartosc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Orientacje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9 (binow katowych, 0-180 st.)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Komorki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16x16 pikseli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Bloki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2x2 komorki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Surowy wektor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16 740 cech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Po PCA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100 cech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[Wizualizacja HOG:
gradienty nalozone
na obraz ust]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Ekstrakcja cech: Filtry Gabora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Filtr Gabora = iloczyn Gaussiana i fali sinusoidalnej (bandpass filter)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Biologicznie odpowiada receptorom kory wzrokowej V1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Bruzdy ust biegna w roznych kierunkach — bank filtrow wychwytuje energie w kazdym kierunku osobno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Dla kazdego filtra: mean(|odpowiedz|) + std(|odpowiedz|)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32 filtry x 2 statystyki = 64 cechy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93192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Parametr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Wartosc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Orientacje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8 (co 22.5 stopni: 0, 22.5, ... 157.5)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Czestotliwosci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4 (0.1, 0.2, 0.3, 0.4 cykli/px)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Rozmiar jadra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21 x 21 px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Sigma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Filtrow lacznie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8 x 4 = 32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Wektor cech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64 wartosci (mean + std per filtr)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1371600"/>
            <a:ext cx="393192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[Siatka odpowiedzi Gabora:
4 wiersze (czest.)
x 8 kolumn (orient.)]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Ekstrakcja cech: Minucje bruzd 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Analogia do daktyloskopii — punkty charakterystyczne bruzd: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Binaryzacja — adaptacyjne progowanie (block 35x35, C=10) oddziela bruzdy od tla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Szkieletyzacja — redukcja bruzd do linii o szer. 1 piksela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Crossing Number (CN) — skanowanie sasiedztwa 3x3: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474720"/>
          <a:ext cx="685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CN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Znaczenie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Zakonczenie (ending)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Bruzda sie tu konczy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Rozwidlenie (bifurcation)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Bruzda sie rozgalezia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&gt;=4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Skrzyzowanie (crossing)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Bruzdy sie przecinaja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029200"/>
          <a:ext cx="6400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Cecha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Opis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n_endings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Liczba zakonczeni bruzd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n_bifurcations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Liczba rozwidlen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n_crossings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Liczba skrzyzowan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n_total_minutiae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Suma powyzszych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groove_density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Minutiae / 10k pikseli szkieletu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total_skeleton_px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Dlug. bruzd w pikselach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binary_entropy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Entropia Shannona (0-1)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89520" y="1371600"/>
            <a:ext cx="411480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[Wizualizacja:
szkielet bruzd
+ kolorowe minucje
(zielony=ending
czerwony=bifurc.
niebieski=crossing)]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Kompozycja wektora cech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9418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37160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Ekstraktor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Surowy wymiar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 PCA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 opisuje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Tekstura lokalna (wzorce sasiedztwa)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HOG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16 740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Krawedzie i ich orientacja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Gabor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Tekstura kierunkowa (bruzdy)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Minutiae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Punkty charakterystyczne bruzd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LACZNIE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16 821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Pelny wektor cech biometrycznych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10944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Surowy wektor (16 821 cech) cache'owany na dysku jako .npy per zdjecie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PCA redukuje HOG: 16 740 -&gt; 100 (eliminuje klątwe wymiarowości)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StandardScaler normalizuje kazda ceche do mean=0, std=1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Scaler fitowany TYLKO na danych treningowych (bez wycieku z testu)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Finalny wektor: 181 liczb float32 — zwarta reprezentacja biometryczna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Klasyfikatory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200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Algorytm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Support Vector Machine
(hiperpłaszczyzna maks. marginesu)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Zespol 200 drzew decyzyjnych
(bagging + losowe cechy)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k-Nearest Neighbors
(odleglosc euklidesowa)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Jadro/metoda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RBF (Radial Basis Function)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max_features = sqrt(181) ~ 13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 = 15, weights = uniform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Regularyzacja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 =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class_weight = balanced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Softmax z odl. min-per-class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Wieloklas.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OvO (231 klas. binarnych)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Naturalnie wieloklasowy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Glosowanie sasiadow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Probabilist.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Platt scaling (5-fold wewn.)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Udzial glosow drzew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Wlasny softmax (-d/T)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Cechy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Wrażliwy na skale (scaler!)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Niezalezny od skali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Wrażliwy na skale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Walidacja krzyzowa (5-fold Stratified CV)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Zbior 382 zdjec dzielony na 5 rownych czesci (foldow)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Kazdy fold: ~306 treningowych (80%), ~76 testowych (20%)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Stratyfikacja — proporcje 22 klas zachowane w kazdym foldzie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Model trenowany od zera w kazdym foldzie (niezalezny pomiar)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Wynik koncowy: mean +/- std z 5 przebiegow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Foldy zapisane do JSON — identyczne miedzy sesjami (seed=42)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11480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Metryka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Opis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Zakres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Accuracy (top-1)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Czy predykcja nr 1 = prawdziwa osoba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0-100%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Top-3 accuracy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Czy prawdziwa osoba w top-3 kandydatow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0-100%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Top-5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Czy prawdziwa osoba w top-5 kandydatow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0-100%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Precision (macro)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Dokladnosc — sr. niewazona po klasach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0-100%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Recall (macro)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Czulosc — sr. niewazona po klasach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0-100%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F1-score (macro)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Srednia harmoniczna precision i recall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0-100%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Wyniki: Metoda 1 (tradycyjna)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8686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371600"/>
                <a:gridCol w="13716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Miara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Top-3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Top-5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Avg. czas / zdjecie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ORB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s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Histogram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s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993333"/>
                </a:solidFill>
                <a:latin typeface="Calibri"/>
              </a:rPr>
              <a:t>[Uzupelnij wyniki po uruchomieniu ewaluacji na Stronie 8 aplikacji]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9144000" cy="18288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8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[Wykres slupkowy porownania miar — accuracy / top-5]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Wyniki: Metoda 2 (ML)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1188720"/>
                <a:gridCol w="1188720"/>
                <a:gridCol w="1371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Klasyfikator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Accuracy
(mean +/- std)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Top-3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Top-5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F1 macro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Czas / fold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SVM (RBF)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+/- 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+/- ...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s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k-NN (k=15)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+/- 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...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993333"/>
                </a:solidFill>
                <a:latin typeface="Calibri"/>
              </a:rPr>
              <a:t>[Uzupelnij wyniki po uruchomieniu ewaluacji na Stronie 6 aplikacji]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10515600" cy="210312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52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[Wykres slupkowy: accuracy / top-5 / F1 per klasyfikator]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Macierz pomylek: SVM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[Wstaw: results/plots/confusion_matrix_svm.png
Macierz 22x22 — os X: predykowana klasa, os Y: prawdziwa klasa.
Ciemniejsze komorki = wiecej klasyfikacji.
Idealny klasyfikator: wartosci tylko na przekatnej.]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Macierze pomylek: Random Forest i k-NN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[Wstaw:
results/plots/confusion_matrix_rf.png]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[Wstaw:
results/plots/confusion_matrix_knn.png]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Porownanie metod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Aspekt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Metoda 1 (tradycyjna)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Metoda 2 (ML)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Podejscie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Porownanie obrazow (piksele)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Ekstrakcja cech + klasyfikator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Cechy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Brak (bezposrednie porownanie)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181 cech (LBP+HOG+Gabor+minucje)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Trening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Brak (lazy: zaladuj obrazy)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Fit PCA + Scaler + Klasyfikator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Predykcja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1-NN po score podobienstwa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SVM / RF / k-NN po wekt. cech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Interpretowalnosc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Wysoka (widac podobne zdj.)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Srednia (cechy czytelne)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Szybkosc predykcji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Wolna (306 porownan/zdj.)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Szybka (&lt;1 s z cache)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Accuracy (CV)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[...%]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[...%]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Top-5 (CV)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[...%]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2E"/>
                          </a:solidFill>
                          <a:latin typeface="Calibri"/>
                        </a:rPr>
                        <a:t>[...%]</a:t>
                      </a:r>
                    </a:p>
                  </a:txBody>
                  <a:tcPr anchor="ctr">
                    <a:solidFill>
                      <a:srgbClr val="F0F2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9441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993333"/>
                </a:solidFill>
                <a:latin typeface="Calibri"/>
              </a:rPr>
              <a:t>[Uzupelnij wyniki po przeprowadzeniu ewaluacji obu metod]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Aplikacja: Streamlit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Jedna ujednolicona aplikacja webowa — 8 stron: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1. Eksploracja danych — statystyki bazy, galeria, metadane osob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2. Preprocessing — wizualizacja krokow z suwakami parametrow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3. Ekstrakcja cech — LBP/HOG/Gabor/minucje z wizualizacja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4. Trening modelu — SVM/RF/k-NN, 1 fold lub 5-fold CV, auto-retrain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5. Predykcja — wszystkie 3 klasyfikatory jednoczesnie, konsensus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6. Ewaluacja — pelny 5-fold CV, macierze pomylek, eksport Excel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7. Predykcja M1 — porownanie obrazow (SSIM/ORB/Hist)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8. Ewaluacja M1 — 5-fold CV dla miar podobienstwa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3C6E"/>
                </a:solidFill>
                <a:latin typeface="Calibri"/>
              </a:rPr>
              <a:t>Uruchomienie:  streamlit run apps/app.py  (port 8502)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solidFill>
            <a:srgbClr val="F0F2F6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200"/>
              </a:spcBef>
            </a:pPr>
            <a:r>
              <a:rPr sz="1400" b="0" i="1">
                <a:solidFill>
                  <a:srgbClr val="808080"/>
                </a:solidFill>
                <a:latin typeface="Calibri"/>
              </a:rPr>
              <a:t>[Screenshot aplikacji
— strona Predykcji
z wynikami 3 klasyfikatorow]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Wnioski i 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Cheiloskopia jest wykonalna metoda identyfikacji biometrycznej — nawet na malym zbiorze 382 zdjec / 22 osob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Metoda 2 (ML na cechach) przewyzsza Metode 1 (porownanie obrazow) pod wzgledem accuracy i szybkosci predykcji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Minucje bruzd ust (endings, bifurcations, crossings) sa unikalnym wkladem cheiloskopii — analogia do daktyloskopii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HOG wymaga redukcji PCA — 16 740 cech przy 382 probkach to klątwa wymiarowosci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k-NN wymaga wlasnego softmax prawdopodobienstw — standardowe glosowanie daje nieinformatywne 100%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A1A2E"/>
                </a:solidFill>
                <a:latin typeface="Calibri"/>
              </a:rPr>
              <a:t>Cache wektorow cech (NPY) redukuje czas 90x (z ~90 s do ~1 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2E"/>
                </a:solidFill>
                <a:latin typeface="Calibri"/>
              </a:rPr>
              <a:t>Mozliwe kierunki rozwoju: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Deep learning (CNN, Siamese) — na wiekszym zbiorze danych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Augmentacja danych — sztuczne powiekszenie zbioru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Klasyfikacja typow bruzd Suzuki-Tsuchihashi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2E"/>
                </a:solidFill>
                <a:latin typeface="Calibri"/>
              </a:rPr>
              <a:t>Weryfikacja 1-do-1 (czy dwa zdjecia = ta sama osoba)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9441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Dziekuje za uwage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57600"/>
            <a:ext cx="3962095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9441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</a:pPr>
            <a:r>
              <a:rPr sz="2800" b="0" i="0">
                <a:solidFill>
                  <a:srgbClr val="FFFFFF"/>
                </a:solidFill>
                <a:latin typeface="Calibri"/>
              </a:rP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